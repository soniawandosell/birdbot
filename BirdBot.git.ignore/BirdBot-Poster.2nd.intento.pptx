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0" r:id="rId2"/>
  </p:sldIdLst>
  <p:sldSz cx="35999738" cy="50399950"/>
  <p:notesSz cx="6858000" cy="9144000"/>
  <p:defaultTextStyle>
    <a:defPPr>
      <a:defRPr lang="es-ES"/>
    </a:defPPr>
    <a:lvl1pPr marL="0" algn="l" defTabSz="4147170" rtl="0" eaLnBrk="1" latinLnBrk="0" hangingPunct="1">
      <a:defRPr sz="8164" kern="1200">
        <a:solidFill>
          <a:schemeClr val="tx1"/>
        </a:solidFill>
        <a:latin typeface="+mn-lt"/>
        <a:ea typeface="+mn-ea"/>
        <a:cs typeface="+mn-cs"/>
      </a:defRPr>
    </a:lvl1pPr>
    <a:lvl2pPr marL="2073585" algn="l" defTabSz="4147170" rtl="0" eaLnBrk="1" latinLnBrk="0" hangingPunct="1">
      <a:defRPr sz="8164" kern="1200">
        <a:solidFill>
          <a:schemeClr val="tx1"/>
        </a:solidFill>
        <a:latin typeface="+mn-lt"/>
        <a:ea typeface="+mn-ea"/>
        <a:cs typeface="+mn-cs"/>
      </a:defRPr>
    </a:lvl2pPr>
    <a:lvl3pPr marL="4147170" algn="l" defTabSz="4147170" rtl="0" eaLnBrk="1" latinLnBrk="0" hangingPunct="1">
      <a:defRPr sz="8164" kern="1200">
        <a:solidFill>
          <a:schemeClr val="tx1"/>
        </a:solidFill>
        <a:latin typeface="+mn-lt"/>
        <a:ea typeface="+mn-ea"/>
        <a:cs typeface="+mn-cs"/>
      </a:defRPr>
    </a:lvl3pPr>
    <a:lvl4pPr marL="6220755" algn="l" defTabSz="4147170" rtl="0" eaLnBrk="1" latinLnBrk="0" hangingPunct="1">
      <a:defRPr sz="8164" kern="1200">
        <a:solidFill>
          <a:schemeClr val="tx1"/>
        </a:solidFill>
        <a:latin typeface="+mn-lt"/>
        <a:ea typeface="+mn-ea"/>
        <a:cs typeface="+mn-cs"/>
      </a:defRPr>
    </a:lvl4pPr>
    <a:lvl5pPr marL="8294340" algn="l" defTabSz="4147170" rtl="0" eaLnBrk="1" latinLnBrk="0" hangingPunct="1">
      <a:defRPr sz="8164" kern="1200">
        <a:solidFill>
          <a:schemeClr val="tx1"/>
        </a:solidFill>
        <a:latin typeface="+mn-lt"/>
        <a:ea typeface="+mn-ea"/>
        <a:cs typeface="+mn-cs"/>
      </a:defRPr>
    </a:lvl5pPr>
    <a:lvl6pPr marL="10367924" algn="l" defTabSz="4147170" rtl="0" eaLnBrk="1" latinLnBrk="0" hangingPunct="1">
      <a:defRPr sz="8164" kern="1200">
        <a:solidFill>
          <a:schemeClr val="tx1"/>
        </a:solidFill>
        <a:latin typeface="+mn-lt"/>
        <a:ea typeface="+mn-ea"/>
        <a:cs typeface="+mn-cs"/>
      </a:defRPr>
    </a:lvl6pPr>
    <a:lvl7pPr marL="12441509" algn="l" defTabSz="4147170" rtl="0" eaLnBrk="1" latinLnBrk="0" hangingPunct="1">
      <a:defRPr sz="8164" kern="1200">
        <a:solidFill>
          <a:schemeClr val="tx1"/>
        </a:solidFill>
        <a:latin typeface="+mn-lt"/>
        <a:ea typeface="+mn-ea"/>
        <a:cs typeface="+mn-cs"/>
      </a:defRPr>
    </a:lvl7pPr>
    <a:lvl8pPr marL="14515094" algn="l" defTabSz="4147170" rtl="0" eaLnBrk="1" latinLnBrk="0" hangingPunct="1">
      <a:defRPr sz="8164" kern="1200">
        <a:solidFill>
          <a:schemeClr val="tx1"/>
        </a:solidFill>
        <a:latin typeface="+mn-lt"/>
        <a:ea typeface="+mn-ea"/>
        <a:cs typeface="+mn-cs"/>
      </a:defRPr>
    </a:lvl8pPr>
    <a:lvl9pPr marL="16588679" algn="l" defTabSz="4147170" rtl="0" eaLnBrk="1" latinLnBrk="0" hangingPunct="1">
      <a:defRPr sz="816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081B"/>
    <a:srgbClr val="706944"/>
    <a:srgbClr val="827673"/>
    <a:srgbClr val="FFFFFF"/>
    <a:srgbClr val="834153"/>
    <a:srgbClr val="1D4C4B"/>
    <a:srgbClr val="EDEDED"/>
    <a:srgbClr val="9B8F98"/>
    <a:srgbClr val="CAB4A3"/>
    <a:srgbClr val="F6ED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70" autoAdjust="0"/>
    <p:restoredTop sz="95274" autoAdjust="0"/>
  </p:normalViewPr>
  <p:slideViewPr>
    <p:cSldViewPr snapToGrid="0">
      <p:cViewPr>
        <p:scale>
          <a:sx n="10" d="100"/>
          <a:sy n="10" d="100"/>
        </p:scale>
        <p:origin x="3024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0324B3-F2D3-42F7-9108-14B016E68F6C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27275" y="1143000"/>
            <a:ext cx="2203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19919-C619-4B7D-B291-FD6B44E2A8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465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419919-C619-4B7D-B291-FD6B44E2A8EA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4120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8248329"/>
            <a:ext cx="30599777" cy="17546649"/>
          </a:xfrm>
        </p:spPr>
        <p:txBody>
          <a:bodyPr anchor="b"/>
          <a:lstStyle>
            <a:lvl1pPr algn="ctr">
              <a:defRPr sz="2362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26471644"/>
            <a:ext cx="26999804" cy="12168318"/>
          </a:xfrm>
        </p:spPr>
        <p:txBody>
          <a:bodyPr/>
          <a:lstStyle>
            <a:lvl1pPr marL="0" indent="0" algn="ctr">
              <a:buNone/>
              <a:defRPr sz="9449"/>
            </a:lvl1pPr>
            <a:lvl2pPr marL="1799996" indent="0" algn="ctr">
              <a:buNone/>
              <a:defRPr sz="7874"/>
            </a:lvl2pPr>
            <a:lvl3pPr marL="3599993" indent="0" algn="ctr">
              <a:buNone/>
              <a:defRPr sz="7087"/>
            </a:lvl3pPr>
            <a:lvl4pPr marL="5399989" indent="0" algn="ctr">
              <a:buNone/>
              <a:defRPr sz="6299"/>
            </a:lvl4pPr>
            <a:lvl5pPr marL="7199986" indent="0" algn="ctr">
              <a:buNone/>
              <a:defRPr sz="6299"/>
            </a:lvl5pPr>
            <a:lvl6pPr marL="8999982" indent="0" algn="ctr">
              <a:buNone/>
              <a:defRPr sz="6299"/>
            </a:lvl6pPr>
            <a:lvl7pPr marL="10799978" indent="0" algn="ctr">
              <a:buNone/>
              <a:defRPr sz="6299"/>
            </a:lvl7pPr>
            <a:lvl8pPr marL="12599975" indent="0" algn="ctr">
              <a:buNone/>
              <a:defRPr sz="6299"/>
            </a:lvl8pPr>
            <a:lvl9pPr marL="14399971" indent="0" algn="ctr">
              <a:buNone/>
              <a:defRPr sz="6299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A95A-1A02-4E7B-B89D-4D01BADE025F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B4BB4-DB14-41CB-99D9-F6186AA2E0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976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A95A-1A02-4E7B-B89D-4D01BADE025F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B4BB4-DB14-41CB-99D9-F6186AA2E0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6566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12565002"/>
            <a:ext cx="31049774" cy="20964976"/>
          </a:xfrm>
        </p:spPr>
        <p:txBody>
          <a:bodyPr anchor="b"/>
          <a:lstStyle>
            <a:lvl1pPr>
              <a:defRPr sz="2362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33728315"/>
            <a:ext cx="31049774" cy="11024985"/>
          </a:xfrm>
        </p:spPr>
        <p:txBody>
          <a:bodyPr/>
          <a:lstStyle>
            <a:lvl1pPr marL="0" indent="0">
              <a:buNone/>
              <a:defRPr sz="9449">
                <a:solidFill>
                  <a:schemeClr val="tx1"/>
                </a:solidFill>
              </a:defRPr>
            </a:lvl1pPr>
            <a:lvl2pPr marL="1799996" indent="0">
              <a:buNone/>
              <a:defRPr sz="7874">
                <a:solidFill>
                  <a:schemeClr val="tx1">
                    <a:tint val="75000"/>
                  </a:schemeClr>
                </a:solidFill>
              </a:defRPr>
            </a:lvl2pPr>
            <a:lvl3pPr marL="3599993" indent="0">
              <a:buNone/>
              <a:defRPr sz="7087">
                <a:solidFill>
                  <a:schemeClr val="tx1">
                    <a:tint val="75000"/>
                  </a:schemeClr>
                </a:solidFill>
              </a:defRPr>
            </a:lvl3pPr>
            <a:lvl4pPr marL="5399989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4pPr>
            <a:lvl5pPr marL="7199986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5pPr>
            <a:lvl6pPr marL="8999982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6pPr>
            <a:lvl7pPr marL="10799978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7pPr>
            <a:lvl8pPr marL="12599975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8pPr>
            <a:lvl9pPr marL="14399971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A95A-1A02-4E7B-B89D-4D01BADE025F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B4BB4-DB14-41CB-99D9-F6186AA2E0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4878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13416653"/>
            <a:ext cx="15299889" cy="31978305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13416653"/>
            <a:ext cx="15299889" cy="31978305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A95A-1A02-4E7B-B89D-4D01BADE025F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B4BB4-DB14-41CB-99D9-F6186AA2E0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4501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683342"/>
            <a:ext cx="31049774" cy="97416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12354992"/>
            <a:ext cx="15229574" cy="6054990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18409982"/>
            <a:ext cx="15229574" cy="2707831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12354992"/>
            <a:ext cx="15304578" cy="6054990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18409982"/>
            <a:ext cx="15304578" cy="2707831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A95A-1A02-4E7B-B89D-4D01BADE025F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B4BB4-DB14-41CB-99D9-F6186AA2E0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3703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A95A-1A02-4E7B-B89D-4D01BADE025F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B4BB4-DB14-41CB-99D9-F6186AA2E0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7578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A95A-1A02-4E7B-B89D-4D01BADE025F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B4BB4-DB14-41CB-99D9-F6186AA2E0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2503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3359997"/>
            <a:ext cx="11610853" cy="11759988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7256671"/>
            <a:ext cx="18224867" cy="35816631"/>
          </a:xfrm>
        </p:spPr>
        <p:txBody>
          <a:bodyPr/>
          <a:lstStyle>
            <a:lvl1pPr>
              <a:defRPr sz="12598"/>
            </a:lvl1pPr>
            <a:lvl2pPr>
              <a:defRPr sz="11024"/>
            </a:lvl2pPr>
            <a:lvl3pPr>
              <a:defRPr sz="9449"/>
            </a:lvl3pPr>
            <a:lvl4pPr>
              <a:defRPr sz="7874"/>
            </a:lvl4pPr>
            <a:lvl5pPr>
              <a:defRPr sz="7874"/>
            </a:lvl5pPr>
            <a:lvl6pPr>
              <a:defRPr sz="7874"/>
            </a:lvl6pPr>
            <a:lvl7pPr>
              <a:defRPr sz="7874"/>
            </a:lvl7pPr>
            <a:lvl8pPr>
              <a:defRPr sz="7874"/>
            </a:lvl8pPr>
            <a:lvl9pPr>
              <a:defRPr sz="7874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5119985"/>
            <a:ext cx="11610853" cy="28011643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A95A-1A02-4E7B-B89D-4D01BADE025F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B4BB4-DB14-41CB-99D9-F6186AA2E0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436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3359997"/>
            <a:ext cx="11610853" cy="11759988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7256671"/>
            <a:ext cx="18224867" cy="35816631"/>
          </a:xfrm>
        </p:spPr>
        <p:txBody>
          <a:bodyPr anchor="t"/>
          <a:lstStyle>
            <a:lvl1pPr marL="0" indent="0">
              <a:buNone/>
              <a:defRPr sz="12598"/>
            </a:lvl1pPr>
            <a:lvl2pPr marL="1799996" indent="0">
              <a:buNone/>
              <a:defRPr sz="11024"/>
            </a:lvl2pPr>
            <a:lvl3pPr marL="3599993" indent="0">
              <a:buNone/>
              <a:defRPr sz="9449"/>
            </a:lvl3pPr>
            <a:lvl4pPr marL="5399989" indent="0">
              <a:buNone/>
              <a:defRPr sz="7874"/>
            </a:lvl4pPr>
            <a:lvl5pPr marL="7199986" indent="0">
              <a:buNone/>
              <a:defRPr sz="7874"/>
            </a:lvl5pPr>
            <a:lvl6pPr marL="8999982" indent="0">
              <a:buNone/>
              <a:defRPr sz="7874"/>
            </a:lvl6pPr>
            <a:lvl7pPr marL="10799978" indent="0">
              <a:buNone/>
              <a:defRPr sz="7874"/>
            </a:lvl7pPr>
            <a:lvl8pPr marL="12599975" indent="0">
              <a:buNone/>
              <a:defRPr sz="7874"/>
            </a:lvl8pPr>
            <a:lvl9pPr marL="14399971" indent="0">
              <a:buNone/>
              <a:defRPr sz="7874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5119985"/>
            <a:ext cx="11610853" cy="28011643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A95A-1A02-4E7B-B89D-4D01BADE025F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B4BB4-DB14-41CB-99D9-F6186AA2E0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9396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A95A-1A02-4E7B-B89D-4D01BADE025F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B4BB4-DB14-41CB-99D9-F6186AA2E0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5052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2683331"/>
            <a:ext cx="7762444" cy="4271162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2683331"/>
            <a:ext cx="22837334" cy="4271162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A95A-1A02-4E7B-B89D-4D01BADE025F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B4BB4-DB14-41CB-99D9-F6186AA2E0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1820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2683342"/>
            <a:ext cx="31049774" cy="97416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13416653"/>
            <a:ext cx="31049774" cy="31978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46713298"/>
            <a:ext cx="8099941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4A95A-1A02-4E7B-B89D-4D01BADE025F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46713298"/>
            <a:ext cx="12149912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46713298"/>
            <a:ext cx="8099941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B4BB4-DB14-41CB-99D9-F6186AA2E0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5299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599993" rtl="0" eaLnBrk="1" latinLnBrk="0" hangingPunct="1">
        <a:lnSpc>
          <a:spcPct val="90000"/>
        </a:lnSpc>
        <a:spcBef>
          <a:spcPct val="0"/>
        </a:spcBef>
        <a:buNone/>
        <a:defRPr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98" indent="-899998" algn="l" defTabSz="3599993" rtl="0" eaLnBrk="1" latinLnBrk="0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95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991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98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984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980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97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973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969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9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93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989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98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982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978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975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971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jp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8035064" y="553605"/>
            <a:ext cx="2311985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9600" b="1" dirty="0">
                <a:latin typeface="Bahnschrift SemiLight SemiConde" panose="020B0502040204020203" pitchFamily="34" charset="0"/>
              </a:rPr>
              <a:t>: una herramienta para registrar datos de cajas   nido en campo basada en </a:t>
            </a:r>
            <a:r>
              <a:rPr lang="es-ES" sz="9600" b="1" dirty="0" err="1">
                <a:latin typeface="Bahnschrift SemiLight SemiConde" panose="020B0502040204020203" pitchFamily="34" charset="0"/>
              </a:rPr>
              <a:t>Telegram</a:t>
            </a:r>
            <a:endParaRPr lang="es-ES" b="1" dirty="0"/>
          </a:p>
        </p:txBody>
      </p:sp>
      <p:sp>
        <p:nvSpPr>
          <p:cNvPr id="4" name="CuadroTexto 3"/>
          <p:cNvSpPr txBox="1"/>
          <p:nvPr/>
        </p:nvSpPr>
        <p:spPr>
          <a:xfrm>
            <a:off x="457372" y="3756437"/>
            <a:ext cx="15282151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1000"/>
              </a:lnSpc>
            </a:pPr>
            <a:r>
              <a:rPr lang="es-ES" sz="6600" dirty="0">
                <a:latin typeface="Bahnschrift SemiLight SemiConde" panose="020B0502040204020203" pitchFamily="34" charset="0"/>
              </a:rPr>
              <a:t>Sonia Wandosell</a:t>
            </a:r>
            <a:r>
              <a:rPr lang="es-ES" sz="6600" baseline="30000" dirty="0">
                <a:latin typeface="Bahnschrift SemiLight SemiConde" panose="020B0502040204020203" pitchFamily="34" charset="0"/>
              </a:rPr>
              <a:t>1</a:t>
            </a:r>
            <a:r>
              <a:rPr lang="es-ES" sz="6600" dirty="0">
                <a:latin typeface="Bahnschrift SemiLight SemiConde" panose="020B0502040204020203" pitchFamily="34" charset="0"/>
              </a:rPr>
              <a:t>, Roger Fusté</a:t>
            </a:r>
            <a:r>
              <a:rPr lang="es-ES" sz="6600" baseline="30000" dirty="0">
                <a:latin typeface="Bahnschrift SemiLight SemiConde" panose="020B0502040204020203" pitchFamily="34" charset="0"/>
              </a:rPr>
              <a:t>1</a:t>
            </a:r>
            <a:r>
              <a:rPr lang="es-ES" sz="6600" dirty="0">
                <a:latin typeface="Bahnschrift SemiLight SemiConde" panose="020B0502040204020203" pitchFamily="34" charset="0"/>
              </a:rPr>
              <a:t>, </a:t>
            </a:r>
            <a:r>
              <a:rPr lang="es-ES" sz="6600" dirty="0" err="1">
                <a:latin typeface="Bahnschrift SemiLight SemiConde" panose="020B0502040204020203" pitchFamily="34" charset="0"/>
              </a:rPr>
              <a:t>Alaïs</a:t>
            </a:r>
            <a:r>
              <a:rPr lang="es-ES" sz="6600" dirty="0">
                <a:latin typeface="Bahnschrift SemiLight SemiConde" panose="020B0502040204020203" pitchFamily="34" charset="0"/>
              </a:rPr>
              <a:t> Lienard</a:t>
            </a:r>
            <a:r>
              <a:rPr lang="es-ES" sz="6600" baseline="30000" dirty="0">
                <a:latin typeface="Bahnschrift SemiLight SemiConde" panose="020B0502040204020203" pitchFamily="34" charset="0"/>
              </a:rPr>
              <a:t>2</a:t>
            </a:r>
            <a:r>
              <a:rPr lang="es-ES" sz="6600" dirty="0">
                <a:latin typeface="Bahnschrift SemiLight SemiConde" panose="020B0502040204020203" pitchFamily="34" charset="0"/>
              </a:rPr>
              <a:t>,</a:t>
            </a:r>
          </a:p>
          <a:p>
            <a:pPr>
              <a:lnSpc>
                <a:spcPts val="11000"/>
              </a:lnSpc>
            </a:pPr>
            <a:r>
              <a:rPr lang="es-ES" sz="6600" dirty="0">
                <a:latin typeface="Bahnschrift SemiLight SemiConde" panose="020B0502040204020203" pitchFamily="34" charset="0"/>
              </a:rPr>
              <a:t>Lorenzo Pérez Rodríguez</a:t>
            </a:r>
            <a:r>
              <a:rPr lang="es-ES" sz="6600" baseline="30000" dirty="0">
                <a:latin typeface="Bahnschrift SemiLight SemiConde" panose="020B0502040204020203" pitchFamily="34" charset="0"/>
              </a:rPr>
              <a:t>3</a:t>
            </a:r>
            <a:r>
              <a:rPr lang="es-ES" sz="6600" dirty="0">
                <a:latin typeface="Bahnschrift SemiLight SemiConde" panose="020B0502040204020203" pitchFamily="34" charset="0"/>
              </a:rPr>
              <a:t>,</a:t>
            </a:r>
          </a:p>
          <a:p>
            <a:pPr>
              <a:lnSpc>
                <a:spcPts val="11000"/>
              </a:lnSpc>
            </a:pPr>
            <a:r>
              <a:rPr lang="es-ES" sz="6600" dirty="0">
                <a:latin typeface="Bahnschrift SemiLight SemiConde" panose="020B0502040204020203" pitchFamily="34" charset="0"/>
              </a:rPr>
              <a:t>Diego Gil</a:t>
            </a:r>
            <a:r>
              <a:rPr lang="es-ES" sz="6600" baseline="30000" dirty="0">
                <a:latin typeface="Bahnschrift SemiLight SemiConde" panose="020B0502040204020203" pitchFamily="34" charset="0"/>
              </a:rPr>
              <a:t>1</a:t>
            </a:r>
            <a:r>
              <a:rPr lang="es-ES" sz="6600" dirty="0">
                <a:latin typeface="Bahnschrift SemiLight SemiConde" panose="020B0502040204020203" pitchFamily="34" charset="0"/>
              </a:rPr>
              <a:t>.</a:t>
            </a:r>
          </a:p>
        </p:txBody>
      </p:sp>
      <p:sp>
        <p:nvSpPr>
          <p:cNvPr id="7" name="Rectángulo 6"/>
          <p:cNvSpPr/>
          <p:nvPr/>
        </p:nvSpPr>
        <p:spPr>
          <a:xfrm>
            <a:off x="6720036" y="45995130"/>
            <a:ext cx="936919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3500" baseline="30000" dirty="0">
                <a:latin typeface="Bahnschrift SemiLight SemiConde" panose="020B0502040204020203" pitchFamily="34" charset="0"/>
              </a:rPr>
              <a:t>1</a:t>
            </a:r>
            <a:r>
              <a:rPr lang="es-ES" sz="3500" dirty="0">
                <a:latin typeface="Bahnschrift SemiLight SemiConde" panose="020B0502040204020203" pitchFamily="34" charset="0"/>
              </a:rPr>
              <a:t> Museo Nacional de Ciencias Naturales (Madrid)</a:t>
            </a:r>
          </a:p>
          <a:p>
            <a:pPr>
              <a:lnSpc>
                <a:spcPct val="150000"/>
              </a:lnSpc>
            </a:pPr>
            <a:r>
              <a:rPr lang="es-ES" sz="3500" baseline="30000" dirty="0">
                <a:latin typeface="Bahnschrift SemiLight SemiConde" panose="020B0502040204020203" pitchFamily="34" charset="0"/>
              </a:rPr>
              <a:t>2</a:t>
            </a:r>
            <a:r>
              <a:rPr lang="es-ES" sz="3500" dirty="0">
                <a:latin typeface="Bahnschrift SemiLight SemiConde" panose="020B0502040204020203" pitchFamily="34" charset="0"/>
              </a:rPr>
              <a:t> </a:t>
            </a:r>
            <a:r>
              <a:rPr lang="es-ES" sz="3500" dirty="0" err="1">
                <a:latin typeface="Bahnschrift SemiLight SemiConde" panose="020B0502040204020203" pitchFamily="34" charset="0"/>
              </a:rPr>
              <a:t>Université</a:t>
            </a:r>
            <a:r>
              <a:rPr lang="es-ES" sz="3500" dirty="0">
                <a:latin typeface="Bahnschrift SemiLight SemiConde" panose="020B0502040204020203" pitchFamily="34" charset="0"/>
              </a:rPr>
              <a:t> </a:t>
            </a:r>
            <a:r>
              <a:rPr lang="es-ES" sz="3500" dirty="0" err="1">
                <a:latin typeface="Bahnschrift SemiLight SemiConde" panose="020B0502040204020203" pitchFamily="34" charset="0"/>
              </a:rPr>
              <a:t>Sorbonne</a:t>
            </a:r>
            <a:r>
              <a:rPr lang="es-ES" sz="3500" dirty="0">
                <a:latin typeface="Bahnschrift SemiLight SemiConde" panose="020B0502040204020203" pitchFamily="34" charset="0"/>
              </a:rPr>
              <a:t> Paris Nord (Paris)</a:t>
            </a:r>
          </a:p>
          <a:p>
            <a:pPr>
              <a:lnSpc>
                <a:spcPct val="150000"/>
              </a:lnSpc>
            </a:pPr>
            <a:r>
              <a:rPr lang="es-ES" sz="3500" baseline="30000" dirty="0">
                <a:latin typeface="Bahnschrift SemiLight SemiConde" panose="020B0502040204020203" pitchFamily="34" charset="0"/>
              </a:rPr>
              <a:t>3</a:t>
            </a:r>
            <a:r>
              <a:rPr lang="es-ES" sz="3500" dirty="0">
                <a:latin typeface="Bahnschrift SemiLight SemiConde" panose="020B0502040204020203" pitchFamily="34" charset="0"/>
              </a:rPr>
              <a:t> Instituto de Investigación en Recursos Cinegéticos/ Universidad de Castilla La Mancha (Ciudad Real)</a:t>
            </a:r>
          </a:p>
        </p:txBody>
      </p:sp>
      <p:sp>
        <p:nvSpPr>
          <p:cNvPr id="8" name="Subtítulo 2"/>
          <p:cNvSpPr txBox="1">
            <a:spLocks/>
          </p:cNvSpPr>
          <p:nvPr/>
        </p:nvSpPr>
        <p:spPr>
          <a:xfrm>
            <a:off x="12452634" y="18843570"/>
            <a:ext cx="7265447" cy="5380460"/>
          </a:xfrm>
          <a:prstGeom prst="roundRect">
            <a:avLst/>
          </a:prstGeom>
          <a:noFill/>
        </p:spPr>
        <p:txBody>
          <a:bodyPr vert="horz" lIns="720000" tIns="360000" rIns="720000" bIns="360000" rtlCol="0">
            <a:noAutofit/>
          </a:bodyPr>
          <a:lstStyle>
            <a:lvl1pPr marL="0" indent="0" algn="ctr" defTabSz="3599993" rtl="0" eaLnBrk="1" latinLnBrk="0" hangingPunct="1">
              <a:lnSpc>
                <a:spcPct val="90000"/>
              </a:lnSpc>
              <a:spcBef>
                <a:spcPts val="3937"/>
              </a:spcBef>
              <a:buFont typeface="Arial" panose="020B0604020202020204" pitchFamily="34" charset="0"/>
              <a:buNone/>
              <a:defRPr sz="94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996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78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99993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70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9989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9986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999982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799978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599975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399971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5400" dirty="0">
                <a:latin typeface="Bahnschrift SemiLight SemiConde" panose="020B0502040204020203" pitchFamily="34" charset="0"/>
              </a:rPr>
              <a:t>¡Escanea el QR para descubrir más información!</a:t>
            </a: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2863" y="47070635"/>
            <a:ext cx="6083959" cy="2279071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9B8F98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4372491" y="21799383"/>
            <a:ext cx="2961200" cy="3006897"/>
          </a:xfrm>
          <a:prstGeom prst="rect">
            <a:avLst/>
          </a:prstGeom>
        </p:spPr>
      </p:pic>
      <p:sp>
        <p:nvSpPr>
          <p:cNvPr id="18" name="Trapecio 17"/>
          <p:cNvSpPr/>
          <p:nvPr/>
        </p:nvSpPr>
        <p:spPr>
          <a:xfrm rot="10800000">
            <a:off x="23544008" y="49846248"/>
            <a:ext cx="1156366" cy="566162"/>
          </a:xfrm>
          <a:prstGeom prst="trapezoid">
            <a:avLst>
              <a:gd name="adj" fmla="val 14311"/>
            </a:avLst>
          </a:prstGeom>
          <a:solidFill>
            <a:srgbClr val="CAB4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Llamada rectangular redondeada 18"/>
          <p:cNvSpPr/>
          <p:nvPr/>
        </p:nvSpPr>
        <p:spPr>
          <a:xfrm rot="867179">
            <a:off x="8853630" y="9431953"/>
            <a:ext cx="4954434" cy="919401"/>
          </a:xfrm>
          <a:prstGeom prst="wedgeRoundRectCallout">
            <a:avLst>
              <a:gd name="adj1" fmla="val 39772"/>
              <a:gd name="adj2" fmla="val 74426"/>
              <a:gd name="adj3" fmla="val 16667"/>
            </a:avLst>
          </a:prstGeom>
          <a:solidFill>
            <a:srgbClr val="1D4C4B"/>
          </a:solidFill>
          <a:ln w="76200">
            <a:noFill/>
          </a:ln>
        </p:spPr>
        <p:txBody>
          <a:bodyPr wrap="square">
            <a:spAutoFit/>
          </a:bodyPr>
          <a:lstStyle/>
          <a:p>
            <a:r>
              <a:rPr lang="es-ES" sz="4800" b="1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/</a:t>
            </a:r>
            <a:r>
              <a:rPr lang="es-ES" sz="4800" b="1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nest</a:t>
            </a:r>
            <a:r>
              <a:rPr lang="es-ES" sz="4800" b="1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 B</a:t>
            </a: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 2H</a:t>
            </a:r>
            <a:endParaRPr lang="es-ES" sz="4800" dirty="0">
              <a:solidFill>
                <a:srgbClr val="EDEDED"/>
              </a:solidFill>
            </a:endParaRPr>
          </a:p>
        </p:txBody>
      </p:sp>
      <p:sp>
        <p:nvSpPr>
          <p:cNvPr id="20" name="Rectángulo 19"/>
          <p:cNvSpPr/>
          <p:nvPr/>
        </p:nvSpPr>
        <p:spPr>
          <a:xfrm>
            <a:off x="15176817" y="5996364"/>
            <a:ext cx="11419067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ES" sz="4600" b="1" spc="300" dirty="0"/>
              <a:t>¿Qué es BirdBot? </a:t>
            </a:r>
          </a:p>
          <a:p>
            <a:pPr algn="ctr"/>
            <a:r>
              <a:rPr lang="es-ES" sz="4600" spc="300" dirty="0"/>
              <a:t>Es un paquete de R que permite almacenar registros de cajas nido (o nidos naturales geo-localizados) en una base de datos. Se ejecuta de forma remota basándose en comunicación con comandos sencillos en un chat de Telegram.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5038239" y="49351754"/>
            <a:ext cx="7958675" cy="868434"/>
            <a:chOff x="15511597" y="11957450"/>
            <a:chExt cx="7958675" cy="868434"/>
          </a:xfrm>
        </p:grpSpPr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11597" y="11957450"/>
              <a:ext cx="868434" cy="868434"/>
            </a:xfrm>
            <a:prstGeom prst="rect">
              <a:avLst/>
            </a:prstGeom>
          </p:spPr>
        </p:pic>
        <p:sp>
          <p:nvSpPr>
            <p:cNvPr id="11" name="CuadroTexto 10"/>
            <p:cNvSpPr txBox="1"/>
            <p:nvPr/>
          </p:nvSpPr>
          <p:spPr>
            <a:xfrm flipH="1">
              <a:off x="15631586" y="12022806"/>
              <a:ext cx="78386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3600" dirty="0"/>
                <a:t>github.com/</a:t>
              </a:r>
              <a:r>
                <a:rPr lang="es-ES" sz="3600" dirty="0" err="1"/>
                <a:t>soniawandosell</a:t>
              </a:r>
              <a:r>
                <a:rPr lang="es-ES" sz="3600" dirty="0"/>
                <a:t>/BirdBot</a:t>
              </a:r>
            </a:p>
          </p:txBody>
        </p:sp>
      </p:grpSp>
      <p:sp>
        <p:nvSpPr>
          <p:cNvPr id="21" name="Flecha circular 20"/>
          <p:cNvSpPr/>
          <p:nvPr/>
        </p:nvSpPr>
        <p:spPr>
          <a:xfrm rot="4637736">
            <a:off x="15811188" y="20239391"/>
            <a:ext cx="2584707" cy="3338588"/>
          </a:xfrm>
          <a:prstGeom prst="circularArrow">
            <a:avLst>
              <a:gd name="adj1" fmla="val 4749"/>
              <a:gd name="adj2" fmla="val 1064139"/>
              <a:gd name="adj3" fmla="val 19364356"/>
              <a:gd name="adj4" fmla="val 14974392"/>
              <a:gd name="adj5" fmla="val 7050"/>
            </a:avLst>
          </a:prstGeom>
          <a:solidFill>
            <a:srgbClr val="9B8F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2" name="Flecha circular 21"/>
          <p:cNvSpPr/>
          <p:nvPr/>
        </p:nvSpPr>
        <p:spPr>
          <a:xfrm rot="17828483" flipH="1">
            <a:off x="13485734" y="20513176"/>
            <a:ext cx="2584707" cy="3338588"/>
          </a:xfrm>
          <a:prstGeom prst="circularArrow">
            <a:avLst>
              <a:gd name="adj1" fmla="val 4749"/>
              <a:gd name="adj2" fmla="val 1064139"/>
              <a:gd name="adj3" fmla="val 19364356"/>
              <a:gd name="adj4" fmla="val 16114251"/>
              <a:gd name="adj5" fmla="val 7050"/>
            </a:avLst>
          </a:prstGeom>
          <a:solidFill>
            <a:srgbClr val="9B8F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pic>
        <p:nvPicPr>
          <p:cNvPr id="23" name="Imagen 22"/>
          <p:cNvPicPr>
            <a:picLocks noChangeAspect="1"/>
          </p:cNvPicPr>
          <p:nvPr/>
        </p:nvPicPr>
        <p:blipFill rotWithShape="1">
          <a:blip r:embed="rId6"/>
          <a:srcRect l="13614" t="21006" r="12366" b="32686"/>
          <a:stretch/>
        </p:blipFill>
        <p:spPr>
          <a:xfrm>
            <a:off x="433486" y="208768"/>
            <a:ext cx="7666892" cy="3306892"/>
          </a:xfrm>
          <a:prstGeom prst="rect">
            <a:avLst/>
          </a:prstGeom>
        </p:spPr>
      </p:pic>
      <p:sp>
        <p:nvSpPr>
          <p:cNvPr id="26" name="Rectángulo 25"/>
          <p:cNvSpPr/>
          <p:nvPr/>
        </p:nvSpPr>
        <p:spPr>
          <a:xfrm>
            <a:off x="10085948" y="42022302"/>
            <a:ext cx="5190991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600" dirty="0">
                <a:solidFill>
                  <a:prstClr val="black"/>
                </a:solidFill>
              </a:rPr>
              <a:t>Los comandos </a:t>
            </a:r>
          </a:p>
          <a:p>
            <a:pPr algn="ctr"/>
            <a:r>
              <a:rPr lang="es-ES" sz="4600" spc="300" dirty="0">
                <a:solidFill>
                  <a:prstClr val="black"/>
                </a:solidFill>
              </a:rPr>
              <a:t>se pueden </a:t>
            </a:r>
            <a:r>
              <a:rPr lang="es-ES" sz="4600" dirty="0">
                <a:solidFill>
                  <a:prstClr val="black"/>
                </a:solidFill>
              </a:rPr>
              <a:t>personalizar.</a:t>
            </a:r>
            <a:endParaRPr lang="es-ES" dirty="0"/>
          </a:p>
        </p:txBody>
      </p:sp>
      <p:sp>
        <p:nvSpPr>
          <p:cNvPr id="28" name="Llamada rectangular redondeada 27"/>
          <p:cNvSpPr/>
          <p:nvPr/>
        </p:nvSpPr>
        <p:spPr>
          <a:xfrm rot="867179">
            <a:off x="6274549" y="10286367"/>
            <a:ext cx="5684697" cy="919401"/>
          </a:xfrm>
          <a:prstGeom prst="wedgeRoundRectCallout">
            <a:avLst>
              <a:gd name="adj1" fmla="val -41390"/>
              <a:gd name="adj2" fmla="val 78511"/>
              <a:gd name="adj3" fmla="val 16667"/>
            </a:avLst>
          </a:prstGeom>
          <a:solidFill>
            <a:srgbClr val="9B8F98"/>
          </a:solidFill>
          <a:ln w="76200">
            <a:noFill/>
          </a:ln>
        </p:spPr>
        <p:txBody>
          <a:bodyPr wrap="square">
            <a:spAutoFit/>
          </a:bodyPr>
          <a:lstStyle/>
          <a:p>
            <a:r>
              <a:rPr lang="es-ES" sz="4800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Info</a:t>
            </a: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 </a:t>
            </a:r>
            <a:r>
              <a:rPr lang="es-ES" sz="4800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for</a:t>
            </a: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 </a:t>
            </a:r>
            <a:r>
              <a:rPr lang="es-ES" sz="4800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nest</a:t>
            </a: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 B </a:t>
            </a:r>
            <a:r>
              <a:rPr lang="es-ES" sz="4800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saved</a:t>
            </a: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!</a:t>
            </a:r>
            <a:endParaRPr lang="es-ES" sz="4800" dirty="0">
              <a:solidFill>
                <a:srgbClr val="EDEDED"/>
              </a:solidFill>
            </a:endParaRPr>
          </a:p>
        </p:txBody>
      </p:sp>
      <p:sp>
        <p:nvSpPr>
          <p:cNvPr id="29" name="Llamada rectangular redondeada 28"/>
          <p:cNvSpPr/>
          <p:nvPr/>
        </p:nvSpPr>
        <p:spPr>
          <a:xfrm rot="867179">
            <a:off x="7935465" y="12051872"/>
            <a:ext cx="4954434" cy="919401"/>
          </a:xfrm>
          <a:prstGeom prst="wedgeRoundRectCallout">
            <a:avLst>
              <a:gd name="adj1" fmla="val 39772"/>
              <a:gd name="adj2" fmla="val 74426"/>
              <a:gd name="adj3" fmla="val 16667"/>
            </a:avLst>
          </a:prstGeom>
          <a:solidFill>
            <a:srgbClr val="1D4C4B"/>
          </a:solidFill>
          <a:ln w="76200">
            <a:noFill/>
          </a:ln>
        </p:spPr>
        <p:txBody>
          <a:bodyPr wrap="square">
            <a:spAutoFit/>
          </a:bodyPr>
          <a:lstStyle/>
          <a:p>
            <a:r>
              <a:rPr lang="es-ES" sz="4800" b="1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/</a:t>
            </a:r>
            <a:r>
              <a:rPr lang="es-ES" sz="4800" b="1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rewrite</a:t>
            </a:r>
            <a:r>
              <a:rPr lang="es-ES" sz="4800" b="1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 B</a:t>
            </a: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 3H</a:t>
            </a:r>
            <a:endParaRPr lang="es-ES" sz="4800" dirty="0">
              <a:solidFill>
                <a:srgbClr val="EDEDED"/>
              </a:solidFill>
            </a:endParaRPr>
          </a:p>
        </p:txBody>
      </p:sp>
      <p:sp>
        <p:nvSpPr>
          <p:cNvPr id="30" name="Llamada rectangular redondeada 29"/>
          <p:cNvSpPr/>
          <p:nvPr/>
        </p:nvSpPr>
        <p:spPr>
          <a:xfrm rot="867179">
            <a:off x="5171444" y="14807864"/>
            <a:ext cx="6701955" cy="919401"/>
          </a:xfrm>
          <a:prstGeom prst="wedgeRoundRectCallout">
            <a:avLst>
              <a:gd name="adj1" fmla="val -42913"/>
              <a:gd name="adj2" fmla="val 84799"/>
              <a:gd name="adj3" fmla="val 16667"/>
            </a:avLst>
          </a:prstGeom>
          <a:solidFill>
            <a:srgbClr val="9B8F98"/>
          </a:solidFill>
          <a:ln w="76200">
            <a:noFill/>
          </a:ln>
        </p:spPr>
        <p:txBody>
          <a:bodyPr wrap="square">
            <a:spAutoFit/>
          </a:bodyPr>
          <a:lstStyle/>
          <a:p>
            <a:r>
              <a:rPr lang="es-ES" sz="4800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The</a:t>
            </a: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 </a:t>
            </a:r>
            <a:r>
              <a:rPr lang="es-ES" sz="4800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previous</a:t>
            </a: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 </a:t>
            </a:r>
            <a:r>
              <a:rPr lang="es-ES" sz="4800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info</a:t>
            </a: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 </a:t>
            </a:r>
            <a:r>
              <a:rPr lang="es-ES" sz="4800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was</a:t>
            </a: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 “2H”</a:t>
            </a:r>
            <a:endParaRPr lang="es-ES" sz="4800" dirty="0">
              <a:solidFill>
                <a:srgbClr val="EDEDED"/>
              </a:solidFill>
            </a:endParaRPr>
          </a:p>
        </p:txBody>
      </p:sp>
      <p:sp>
        <p:nvSpPr>
          <p:cNvPr id="31" name="Llamada rectangular redondeada 30"/>
          <p:cNvSpPr/>
          <p:nvPr/>
        </p:nvSpPr>
        <p:spPr>
          <a:xfrm rot="867179">
            <a:off x="5557837" y="13232812"/>
            <a:ext cx="6452489" cy="919401"/>
          </a:xfrm>
          <a:prstGeom prst="wedgeRoundRectCallout">
            <a:avLst>
              <a:gd name="adj1" fmla="val -42115"/>
              <a:gd name="adj2" fmla="val 80420"/>
              <a:gd name="adj3" fmla="val 16667"/>
            </a:avLst>
          </a:prstGeom>
          <a:solidFill>
            <a:srgbClr val="9B8F98"/>
          </a:solidFill>
          <a:ln w="76200">
            <a:noFill/>
          </a:ln>
        </p:spPr>
        <p:txBody>
          <a:bodyPr wrap="square">
            <a:spAutoFit/>
          </a:bodyPr>
          <a:lstStyle/>
          <a:p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¡</a:t>
            </a:r>
            <a:r>
              <a:rPr lang="es-ES" sz="4800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Info</a:t>
            </a: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 </a:t>
            </a:r>
            <a:r>
              <a:rPr lang="es-ES" sz="4800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for</a:t>
            </a: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 </a:t>
            </a:r>
            <a:r>
              <a:rPr lang="es-ES" sz="4800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nest</a:t>
            </a: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 B </a:t>
            </a:r>
            <a:r>
              <a:rPr lang="es-ES" sz="4800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rewritten</a:t>
            </a: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!</a:t>
            </a:r>
            <a:endParaRPr lang="es-ES" sz="4800" dirty="0">
              <a:solidFill>
                <a:srgbClr val="EDEDED"/>
              </a:solidFill>
            </a:endParaRPr>
          </a:p>
        </p:txBody>
      </p:sp>
      <p:sp>
        <p:nvSpPr>
          <p:cNvPr id="32" name="Llamada rectangular redondeada 31"/>
          <p:cNvSpPr/>
          <p:nvPr/>
        </p:nvSpPr>
        <p:spPr>
          <a:xfrm>
            <a:off x="9560549" y="26093343"/>
            <a:ext cx="2892085" cy="919401"/>
          </a:xfrm>
          <a:prstGeom prst="wedgeRoundRectCallout">
            <a:avLst>
              <a:gd name="adj1" fmla="val 47879"/>
              <a:gd name="adj2" fmla="val 71876"/>
              <a:gd name="adj3" fmla="val 16667"/>
            </a:avLst>
          </a:prstGeom>
          <a:solidFill>
            <a:srgbClr val="834153"/>
          </a:solidFill>
          <a:ln w="76200">
            <a:noFill/>
          </a:ln>
        </p:spPr>
        <p:txBody>
          <a:bodyPr wrap="square">
            <a:spAutoFit/>
          </a:bodyPr>
          <a:lstStyle/>
          <a:p>
            <a:r>
              <a:rPr lang="es-ES" sz="4800" b="1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/</a:t>
            </a:r>
            <a:r>
              <a:rPr lang="es-ES" sz="4800" b="1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tasksmap</a:t>
            </a:r>
            <a:endParaRPr lang="es-ES" sz="4800" dirty="0">
              <a:solidFill>
                <a:srgbClr val="EDEDED"/>
              </a:solidFill>
            </a:endParaRPr>
          </a:p>
        </p:txBody>
      </p:sp>
      <p:sp>
        <p:nvSpPr>
          <p:cNvPr id="34" name="Llamada rectangular redondeada 33"/>
          <p:cNvSpPr/>
          <p:nvPr/>
        </p:nvSpPr>
        <p:spPr>
          <a:xfrm>
            <a:off x="8499947" y="33088637"/>
            <a:ext cx="3918895" cy="919401"/>
          </a:xfrm>
          <a:prstGeom prst="wedgeRoundRectCallout">
            <a:avLst>
              <a:gd name="adj1" fmla="val 42165"/>
              <a:gd name="adj2" fmla="val 66776"/>
              <a:gd name="adj3" fmla="val 16667"/>
            </a:avLst>
          </a:prstGeom>
          <a:solidFill>
            <a:srgbClr val="834153"/>
          </a:solidFill>
          <a:ln w="76200">
            <a:noFill/>
          </a:ln>
        </p:spPr>
        <p:txBody>
          <a:bodyPr wrap="square">
            <a:spAutoFit/>
          </a:bodyPr>
          <a:lstStyle/>
          <a:p>
            <a:r>
              <a:rPr lang="es-ES" sz="4800" b="1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/</a:t>
            </a:r>
            <a:r>
              <a:rPr lang="es-ES" sz="4800" b="1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tomorrowmap</a:t>
            </a:r>
            <a:endParaRPr lang="es-ES" sz="4800" dirty="0">
              <a:solidFill>
                <a:srgbClr val="EDEDED"/>
              </a:solidFill>
            </a:endParaRPr>
          </a:p>
        </p:txBody>
      </p:sp>
      <p:sp>
        <p:nvSpPr>
          <p:cNvPr id="36" name="Llamada rectangular redondeada 35"/>
          <p:cNvSpPr/>
          <p:nvPr/>
        </p:nvSpPr>
        <p:spPr>
          <a:xfrm>
            <a:off x="5090368" y="34188618"/>
            <a:ext cx="7453848" cy="5822871"/>
          </a:xfrm>
          <a:prstGeom prst="wedgeRoundRectCallout">
            <a:avLst>
              <a:gd name="adj1" fmla="val -41608"/>
              <a:gd name="adj2" fmla="val 55285"/>
              <a:gd name="adj3" fmla="val 16667"/>
            </a:avLst>
          </a:prstGeom>
          <a:solidFill>
            <a:srgbClr val="9B8F98"/>
          </a:solidFill>
          <a:ln w="76200">
            <a:noFill/>
          </a:ln>
        </p:spPr>
        <p:txBody>
          <a:bodyPr wrap="square">
            <a:spAutoFit/>
          </a:bodyPr>
          <a:lstStyle/>
          <a:p>
            <a:r>
              <a:rPr lang="es-ES" sz="4800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Tasks</a:t>
            </a: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 to do </a:t>
            </a:r>
            <a:r>
              <a:rPr lang="es-ES" sz="4800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tomorrow</a:t>
            </a: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:</a:t>
            </a:r>
          </a:p>
          <a:p>
            <a:endParaRPr lang="es-ES" sz="4800" dirty="0">
              <a:solidFill>
                <a:srgbClr val="EDEDED"/>
              </a:solidFill>
              <a:latin typeface="Bahnschrift SemiLight SemiConde" panose="020B0502040204020203" pitchFamily="34" charset="0"/>
            </a:endParaRPr>
          </a:p>
          <a:p>
            <a:endParaRPr lang="es-ES" sz="4800" dirty="0">
              <a:solidFill>
                <a:srgbClr val="EDEDED"/>
              </a:solidFill>
              <a:latin typeface="Bahnschrift SemiLight SemiConde" panose="020B0502040204020203" pitchFamily="34" charset="0"/>
            </a:endParaRPr>
          </a:p>
          <a:p>
            <a:endParaRPr lang="es-ES" sz="4800" dirty="0">
              <a:solidFill>
                <a:srgbClr val="EDEDED"/>
              </a:solidFill>
            </a:endParaRPr>
          </a:p>
          <a:p>
            <a:endParaRPr lang="es-ES" sz="4800" dirty="0">
              <a:solidFill>
                <a:srgbClr val="EDEDED"/>
              </a:solidFill>
            </a:endParaRPr>
          </a:p>
          <a:p>
            <a:endParaRPr lang="es-ES" sz="4800" dirty="0">
              <a:solidFill>
                <a:srgbClr val="EDEDED"/>
              </a:solidFill>
            </a:endParaRPr>
          </a:p>
          <a:p>
            <a:endParaRPr lang="es-ES" sz="4800" dirty="0">
              <a:solidFill>
                <a:srgbClr val="EDEDED"/>
              </a:solidFill>
            </a:endParaRPr>
          </a:p>
        </p:txBody>
      </p:sp>
      <p:sp>
        <p:nvSpPr>
          <p:cNvPr id="37" name="Llamada rectangular redondeada 36"/>
          <p:cNvSpPr/>
          <p:nvPr/>
        </p:nvSpPr>
        <p:spPr>
          <a:xfrm>
            <a:off x="5136902" y="27178970"/>
            <a:ext cx="7407314" cy="5822871"/>
          </a:xfrm>
          <a:prstGeom prst="wedgeRoundRectCallout">
            <a:avLst>
              <a:gd name="adj1" fmla="val -45503"/>
              <a:gd name="adj2" fmla="val 54954"/>
              <a:gd name="adj3" fmla="val 16667"/>
            </a:avLst>
          </a:prstGeom>
          <a:solidFill>
            <a:srgbClr val="9B8F98"/>
          </a:solidFill>
          <a:ln w="76200">
            <a:noFill/>
          </a:ln>
        </p:spPr>
        <p:txBody>
          <a:bodyPr wrap="square">
            <a:spAutoFit/>
          </a:bodyPr>
          <a:lstStyle/>
          <a:p>
            <a:r>
              <a:rPr lang="es-ES" sz="4800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Tasks</a:t>
            </a: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 to do </a:t>
            </a:r>
            <a:r>
              <a:rPr lang="es-ES" sz="4800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today</a:t>
            </a: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:</a:t>
            </a:r>
          </a:p>
          <a:p>
            <a:endParaRPr lang="es-ES" sz="4800" dirty="0">
              <a:solidFill>
                <a:srgbClr val="EDEDED"/>
              </a:solidFill>
              <a:latin typeface="Bahnschrift SemiLight SemiConde" panose="020B0502040204020203" pitchFamily="34" charset="0"/>
            </a:endParaRPr>
          </a:p>
          <a:p>
            <a:endParaRPr lang="es-ES" sz="4800" dirty="0">
              <a:solidFill>
                <a:srgbClr val="EDEDED"/>
              </a:solidFill>
              <a:latin typeface="Bahnschrift SemiLight SemiConde" panose="020B0502040204020203" pitchFamily="34" charset="0"/>
            </a:endParaRPr>
          </a:p>
          <a:p>
            <a:endParaRPr lang="es-ES" sz="4800" dirty="0">
              <a:solidFill>
                <a:srgbClr val="EDEDED"/>
              </a:solidFill>
              <a:latin typeface="Bahnschrift SemiLight SemiConde" panose="020B0502040204020203" pitchFamily="34" charset="0"/>
            </a:endParaRPr>
          </a:p>
          <a:p>
            <a:endParaRPr lang="es-ES" sz="4800" dirty="0">
              <a:solidFill>
                <a:srgbClr val="EDEDED"/>
              </a:solidFill>
              <a:latin typeface="Bahnschrift SemiLight SemiConde" panose="020B0502040204020203" pitchFamily="34" charset="0"/>
            </a:endParaRPr>
          </a:p>
          <a:p>
            <a:endParaRPr lang="es-ES" sz="4800" dirty="0">
              <a:solidFill>
                <a:srgbClr val="EDEDED"/>
              </a:solidFill>
              <a:latin typeface="Bahnschrift SemiLight SemiConde" panose="020B0502040204020203" pitchFamily="34" charset="0"/>
            </a:endParaRPr>
          </a:p>
          <a:p>
            <a:endParaRPr lang="es-ES" sz="4800" dirty="0">
              <a:solidFill>
                <a:srgbClr val="EDEDED"/>
              </a:solidFill>
            </a:endParaRPr>
          </a:p>
        </p:txBody>
      </p:sp>
      <p:sp>
        <p:nvSpPr>
          <p:cNvPr id="38" name="Rectángulo redondeado 37"/>
          <p:cNvSpPr/>
          <p:nvPr/>
        </p:nvSpPr>
        <p:spPr>
          <a:xfrm>
            <a:off x="-1336431" y="29481113"/>
            <a:ext cx="45719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Llamada rectangular redondeada 32"/>
          <p:cNvSpPr/>
          <p:nvPr/>
        </p:nvSpPr>
        <p:spPr>
          <a:xfrm rot="20794595">
            <a:off x="24640565" y="13770332"/>
            <a:ext cx="3353778" cy="919401"/>
          </a:xfrm>
          <a:prstGeom prst="wedgeRoundRectCallout">
            <a:avLst>
              <a:gd name="adj1" fmla="val 47879"/>
              <a:gd name="adj2" fmla="val 71876"/>
              <a:gd name="adj3" fmla="val 16667"/>
            </a:avLst>
          </a:prstGeom>
          <a:solidFill>
            <a:srgbClr val="827673"/>
          </a:solidFill>
          <a:ln w="76200">
            <a:noFill/>
          </a:ln>
        </p:spPr>
        <p:txBody>
          <a:bodyPr wrap="square">
            <a:spAutoFit/>
          </a:bodyPr>
          <a:lstStyle/>
          <a:p>
            <a:r>
              <a:rPr lang="es-ES" sz="4800" b="1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/</a:t>
            </a:r>
            <a:r>
              <a:rPr lang="es-ES" sz="4800" b="1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peoplemap</a:t>
            </a:r>
            <a:endParaRPr lang="es-ES" sz="4800" dirty="0">
              <a:solidFill>
                <a:srgbClr val="EDEDED"/>
              </a:solidFill>
            </a:endParaRPr>
          </a:p>
        </p:txBody>
      </p:sp>
      <p:sp>
        <p:nvSpPr>
          <p:cNvPr id="35" name="Llamada rectangular redondeada 34"/>
          <p:cNvSpPr/>
          <p:nvPr/>
        </p:nvSpPr>
        <p:spPr>
          <a:xfrm rot="20794595">
            <a:off x="26692146" y="20523728"/>
            <a:ext cx="3146948" cy="948584"/>
          </a:xfrm>
          <a:prstGeom prst="wedgeRoundRectCallout">
            <a:avLst>
              <a:gd name="adj1" fmla="val 42165"/>
              <a:gd name="adj2" fmla="val 66776"/>
              <a:gd name="adj3" fmla="val 16667"/>
            </a:avLst>
          </a:prstGeom>
          <a:solidFill>
            <a:srgbClr val="827673"/>
          </a:solidFill>
          <a:ln w="76200">
            <a:noFill/>
          </a:ln>
        </p:spPr>
        <p:txBody>
          <a:bodyPr wrap="square">
            <a:spAutoFit/>
          </a:bodyPr>
          <a:lstStyle/>
          <a:p>
            <a:r>
              <a:rPr lang="es-ES" sz="4800" b="1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/</a:t>
            </a:r>
            <a:r>
              <a:rPr lang="es-ES" sz="4800" b="1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donetoday</a:t>
            </a:r>
            <a:endParaRPr lang="es-ES" sz="4800" dirty="0">
              <a:solidFill>
                <a:srgbClr val="EDEDED"/>
              </a:solidFill>
            </a:endParaRPr>
          </a:p>
        </p:txBody>
      </p:sp>
      <p:sp>
        <p:nvSpPr>
          <p:cNvPr id="39" name="Llamada rectangular redondeada 38"/>
          <p:cNvSpPr/>
          <p:nvPr/>
        </p:nvSpPr>
        <p:spPr>
          <a:xfrm rot="20794595">
            <a:off x="23826961" y="22100222"/>
            <a:ext cx="5792329" cy="2553891"/>
          </a:xfrm>
          <a:prstGeom prst="wedgeRoundRectCallout">
            <a:avLst>
              <a:gd name="adj1" fmla="val -41608"/>
              <a:gd name="adj2" fmla="val 55285"/>
              <a:gd name="adj3" fmla="val 16667"/>
            </a:avLst>
          </a:prstGeom>
          <a:solidFill>
            <a:srgbClr val="9B8F98"/>
          </a:solidFill>
          <a:ln w="76200">
            <a:noFill/>
          </a:ln>
        </p:spPr>
        <p:txBody>
          <a:bodyPr wrap="square">
            <a:spAutoFit/>
          </a:bodyPr>
          <a:lstStyle/>
          <a:p>
            <a:r>
              <a:rPr lang="es-ES" sz="4800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Tasks</a:t>
            </a: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 done </a:t>
            </a:r>
            <a:r>
              <a:rPr lang="es-ES" sz="4800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by</a:t>
            </a: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 User1: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B | 10:30 | 3H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A | 10:35 | 4p</a:t>
            </a:r>
          </a:p>
        </p:txBody>
      </p:sp>
      <p:sp>
        <p:nvSpPr>
          <p:cNvPr id="40" name="Llamada rectangular redondeada 39"/>
          <p:cNvSpPr/>
          <p:nvPr/>
        </p:nvSpPr>
        <p:spPr>
          <a:xfrm rot="20794595">
            <a:off x="21781093" y="15185942"/>
            <a:ext cx="7407314" cy="5822871"/>
          </a:xfrm>
          <a:prstGeom prst="wedgeRoundRectCallout">
            <a:avLst>
              <a:gd name="adj1" fmla="val -45503"/>
              <a:gd name="adj2" fmla="val 54954"/>
              <a:gd name="adj3" fmla="val 16667"/>
            </a:avLst>
          </a:prstGeom>
          <a:solidFill>
            <a:srgbClr val="9B8F98"/>
          </a:solidFill>
          <a:ln w="76200">
            <a:noFill/>
          </a:ln>
        </p:spPr>
        <p:txBody>
          <a:bodyPr wrap="square">
            <a:spAutoFit/>
          </a:bodyPr>
          <a:lstStyle/>
          <a:p>
            <a:r>
              <a:rPr lang="es-ES" sz="4800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Tasks</a:t>
            </a: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 to do </a:t>
            </a:r>
            <a:r>
              <a:rPr lang="es-ES" sz="4800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today</a:t>
            </a: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:</a:t>
            </a:r>
          </a:p>
          <a:p>
            <a:endParaRPr lang="es-ES" sz="4800" dirty="0">
              <a:solidFill>
                <a:srgbClr val="EDEDED"/>
              </a:solidFill>
              <a:latin typeface="Bahnschrift SemiLight SemiConde" panose="020B0502040204020203" pitchFamily="34" charset="0"/>
            </a:endParaRPr>
          </a:p>
          <a:p>
            <a:endParaRPr lang="es-ES" sz="4800" dirty="0">
              <a:solidFill>
                <a:srgbClr val="EDEDED"/>
              </a:solidFill>
              <a:latin typeface="Bahnschrift SemiLight SemiConde" panose="020B0502040204020203" pitchFamily="34" charset="0"/>
            </a:endParaRPr>
          </a:p>
          <a:p>
            <a:endParaRPr lang="es-ES" sz="4800" dirty="0">
              <a:solidFill>
                <a:srgbClr val="EDEDED"/>
              </a:solidFill>
              <a:latin typeface="Bahnschrift SemiLight SemiConde" panose="020B0502040204020203" pitchFamily="34" charset="0"/>
            </a:endParaRPr>
          </a:p>
          <a:p>
            <a:endParaRPr lang="es-ES" sz="4800" dirty="0">
              <a:solidFill>
                <a:srgbClr val="EDEDED"/>
              </a:solidFill>
              <a:latin typeface="Bahnschrift SemiLight SemiConde" panose="020B0502040204020203" pitchFamily="34" charset="0"/>
            </a:endParaRPr>
          </a:p>
          <a:p>
            <a:endParaRPr lang="es-ES" sz="4800" dirty="0">
              <a:solidFill>
                <a:srgbClr val="EDEDED"/>
              </a:solidFill>
              <a:latin typeface="Bahnschrift SemiLight SemiConde" panose="020B0502040204020203" pitchFamily="34" charset="0"/>
            </a:endParaRPr>
          </a:p>
          <a:p>
            <a:endParaRPr lang="es-ES" sz="4800" dirty="0">
              <a:solidFill>
                <a:srgbClr val="EDEDED"/>
              </a:solidFill>
            </a:endParaRPr>
          </a:p>
        </p:txBody>
      </p:sp>
      <p:sp>
        <p:nvSpPr>
          <p:cNvPr id="41" name="Rectángulo redondeado 40"/>
          <p:cNvSpPr/>
          <p:nvPr/>
        </p:nvSpPr>
        <p:spPr>
          <a:xfrm rot="20794595">
            <a:off x="15506058" y="27620710"/>
            <a:ext cx="45719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Llamada rectangular redondeada 41"/>
          <p:cNvSpPr/>
          <p:nvPr/>
        </p:nvSpPr>
        <p:spPr>
          <a:xfrm>
            <a:off x="20960069" y="30068123"/>
            <a:ext cx="2892085" cy="919401"/>
          </a:xfrm>
          <a:prstGeom prst="wedgeRoundRectCallout">
            <a:avLst>
              <a:gd name="adj1" fmla="val 47879"/>
              <a:gd name="adj2" fmla="val 71876"/>
              <a:gd name="adj3" fmla="val 16667"/>
            </a:avLst>
          </a:prstGeom>
          <a:solidFill>
            <a:srgbClr val="706944"/>
          </a:solidFill>
          <a:ln w="76200">
            <a:noFill/>
          </a:ln>
        </p:spPr>
        <p:txBody>
          <a:bodyPr wrap="square">
            <a:spAutoFit/>
          </a:bodyPr>
          <a:lstStyle/>
          <a:p>
            <a:r>
              <a:rPr lang="es-ES" sz="4800" b="1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/</a:t>
            </a:r>
            <a:r>
              <a:rPr lang="es-ES" sz="4800" b="1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download</a:t>
            </a:r>
            <a:endParaRPr lang="es-ES" sz="4800" dirty="0">
              <a:solidFill>
                <a:srgbClr val="EDEDED"/>
              </a:solidFill>
            </a:endParaRPr>
          </a:p>
        </p:txBody>
      </p:sp>
      <p:sp>
        <p:nvSpPr>
          <p:cNvPr id="44" name="Llamada rectangular redondeada 43"/>
          <p:cNvSpPr/>
          <p:nvPr/>
        </p:nvSpPr>
        <p:spPr>
          <a:xfrm>
            <a:off x="16964700" y="32839091"/>
            <a:ext cx="6887454" cy="8853428"/>
          </a:xfrm>
          <a:prstGeom prst="wedgeRoundRectCallout">
            <a:avLst>
              <a:gd name="adj1" fmla="val 43360"/>
              <a:gd name="adj2" fmla="val 57379"/>
              <a:gd name="adj3" fmla="val 16667"/>
            </a:avLst>
          </a:prstGeom>
          <a:solidFill>
            <a:srgbClr val="706944"/>
          </a:solidFill>
          <a:ln w="76200">
            <a:noFill/>
          </a:ln>
        </p:spPr>
        <p:txBody>
          <a:bodyPr wrap="square">
            <a:spAutoFit/>
          </a:bodyPr>
          <a:lstStyle/>
          <a:p>
            <a:endParaRPr lang="es-ES" sz="4800" dirty="0">
              <a:solidFill>
                <a:srgbClr val="EDEDED"/>
              </a:solidFill>
              <a:latin typeface="Bahnschrift SemiLight SemiConde" panose="020B0502040204020203" pitchFamily="34" charset="0"/>
            </a:endParaRPr>
          </a:p>
          <a:p>
            <a:endParaRPr lang="es-ES" sz="4800" dirty="0">
              <a:solidFill>
                <a:srgbClr val="EDEDED"/>
              </a:solidFill>
              <a:latin typeface="Bahnschrift SemiLight SemiConde" panose="020B0502040204020203" pitchFamily="34" charset="0"/>
            </a:endParaRPr>
          </a:p>
          <a:p>
            <a:endParaRPr lang="es-ES" sz="4800" dirty="0">
              <a:solidFill>
                <a:srgbClr val="EDEDED"/>
              </a:solidFill>
              <a:latin typeface="Bahnschrift SemiLight SemiConde" panose="020B0502040204020203" pitchFamily="34" charset="0"/>
            </a:endParaRPr>
          </a:p>
          <a:p>
            <a:endParaRPr lang="es-ES" sz="4800" dirty="0">
              <a:solidFill>
                <a:srgbClr val="EDEDED"/>
              </a:solidFill>
              <a:latin typeface="Bahnschrift SemiLight SemiConde" panose="020B0502040204020203" pitchFamily="34" charset="0"/>
            </a:endParaRPr>
          </a:p>
          <a:p>
            <a:endParaRPr lang="es-ES" sz="4800" dirty="0">
              <a:solidFill>
                <a:srgbClr val="EDEDED"/>
              </a:solidFill>
              <a:latin typeface="Bahnschrift SemiLight SemiConde" panose="020B0502040204020203" pitchFamily="34" charset="0"/>
            </a:endParaRPr>
          </a:p>
          <a:p>
            <a:endParaRPr lang="es-ES" sz="4800" dirty="0">
              <a:solidFill>
                <a:srgbClr val="EDEDED"/>
              </a:solidFill>
              <a:latin typeface="Bahnschrift SemiLight SemiConde" panose="020B0502040204020203" pitchFamily="34" charset="0"/>
            </a:endParaRPr>
          </a:p>
          <a:p>
            <a:endParaRPr lang="es-ES" sz="4800" dirty="0">
              <a:solidFill>
                <a:srgbClr val="EDEDED"/>
              </a:solidFill>
              <a:latin typeface="Bahnschrift SemiLight SemiConde" panose="020B0502040204020203" pitchFamily="34" charset="0"/>
            </a:endParaRPr>
          </a:p>
          <a:p>
            <a:endParaRPr lang="es-ES" sz="4800" dirty="0">
              <a:solidFill>
                <a:srgbClr val="EDEDED"/>
              </a:solidFill>
              <a:latin typeface="Bahnschrift SemiLight SemiConde" panose="020B0502040204020203" pitchFamily="34" charset="0"/>
            </a:endParaRPr>
          </a:p>
          <a:p>
            <a:endParaRPr lang="es-ES" sz="4800" dirty="0">
              <a:solidFill>
                <a:srgbClr val="EDEDED"/>
              </a:solidFill>
              <a:latin typeface="Bahnschrift SemiLight SemiConde" panose="020B0502040204020203" pitchFamily="34" charset="0"/>
            </a:endParaRPr>
          </a:p>
          <a:p>
            <a:endParaRPr lang="es-ES" sz="4800" dirty="0">
              <a:solidFill>
                <a:srgbClr val="EDEDED"/>
              </a:solidFill>
              <a:latin typeface="Bahnschrift SemiLight SemiConde" panose="020B0502040204020203" pitchFamily="34" charset="0"/>
            </a:endParaRPr>
          </a:p>
          <a:p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CajaB.3Huevos</a:t>
            </a:r>
            <a:endParaRPr lang="es-ES" sz="4800" dirty="0">
              <a:solidFill>
                <a:srgbClr val="EDEDED"/>
              </a:solidFill>
            </a:endParaRPr>
          </a:p>
        </p:txBody>
      </p:sp>
      <p:sp>
        <p:nvSpPr>
          <p:cNvPr id="46" name="Rectángulo redondeado 45"/>
          <p:cNvSpPr/>
          <p:nvPr/>
        </p:nvSpPr>
        <p:spPr>
          <a:xfrm>
            <a:off x="10063089" y="33194045"/>
            <a:ext cx="45719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4108" y="28312126"/>
            <a:ext cx="6205500" cy="4411754"/>
          </a:xfrm>
          <a:prstGeom prst="rect">
            <a:avLst/>
          </a:prstGeom>
        </p:spPr>
      </p:pic>
      <p:pic>
        <p:nvPicPr>
          <p:cNvPr id="24" name="Imagen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0846" y="35271632"/>
            <a:ext cx="6191158" cy="4401557"/>
          </a:xfrm>
          <a:prstGeom prst="rect">
            <a:avLst/>
          </a:prstGeom>
        </p:spPr>
      </p:pic>
      <p:pic>
        <p:nvPicPr>
          <p:cNvPr id="25" name="Imagen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0760892">
            <a:off x="22570268" y="16343592"/>
            <a:ext cx="6193758" cy="4403406"/>
          </a:xfrm>
          <a:prstGeom prst="rect">
            <a:avLst/>
          </a:prstGeom>
        </p:spPr>
      </p:pic>
      <p:sp>
        <p:nvSpPr>
          <p:cNvPr id="96" name="Llamada rectangular redondeada 95"/>
          <p:cNvSpPr/>
          <p:nvPr/>
        </p:nvSpPr>
        <p:spPr>
          <a:xfrm rot="20794595">
            <a:off x="24615315" y="24897054"/>
            <a:ext cx="5739687" cy="2553891"/>
          </a:xfrm>
          <a:prstGeom prst="wedgeRoundRectCallout">
            <a:avLst>
              <a:gd name="adj1" fmla="val -41608"/>
              <a:gd name="adj2" fmla="val 55285"/>
              <a:gd name="adj3" fmla="val 16667"/>
            </a:avLst>
          </a:prstGeom>
          <a:solidFill>
            <a:srgbClr val="9B8F98"/>
          </a:solidFill>
          <a:ln w="76200">
            <a:noFill/>
          </a:ln>
        </p:spPr>
        <p:txBody>
          <a:bodyPr wrap="square">
            <a:spAutoFit/>
          </a:bodyPr>
          <a:lstStyle/>
          <a:p>
            <a:r>
              <a:rPr lang="es-ES" sz="4800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Tasks</a:t>
            </a: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 done </a:t>
            </a:r>
            <a:r>
              <a:rPr lang="es-ES" sz="4800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by</a:t>
            </a: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 User2: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M | 10:31 | 3H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N | 10:34 | 4H</a:t>
            </a:r>
          </a:p>
        </p:txBody>
      </p:sp>
      <p:grpSp>
        <p:nvGrpSpPr>
          <p:cNvPr id="100" name="Grupo 99"/>
          <p:cNvGrpSpPr/>
          <p:nvPr/>
        </p:nvGrpSpPr>
        <p:grpSpPr>
          <a:xfrm>
            <a:off x="16964700" y="31334484"/>
            <a:ext cx="3420794" cy="919401"/>
            <a:chOff x="16977360" y="30891902"/>
            <a:chExt cx="3420794" cy="919401"/>
          </a:xfrm>
        </p:grpSpPr>
        <p:sp>
          <p:nvSpPr>
            <p:cNvPr id="45" name="Llamada rectangular redondeada 44"/>
            <p:cNvSpPr/>
            <p:nvPr/>
          </p:nvSpPr>
          <p:spPr>
            <a:xfrm>
              <a:off x="16977360" y="30891902"/>
              <a:ext cx="3420794" cy="919401"/>
            </a:xfrm>
            <a:prstGeom prst="wedgeRoundRectCallout">
              <a:avLst>
                <a:gd name="adj1" fmla="val -45503"/>
                <a:gd name="adj2" fmla="val 93206"/>
                <a:gd name="adj3" fmla="val 16667"/>
              </a:avLst>
            </a:prstGeom>
            <a:solidFill>
              <a:srgbClr val="9B8F98"/>
            </a:solidFill>
            <a:ln w="76200">
              <a:noFill/>
            </a:ln>
          </p:spPr>
          <p:txBody>
            <a:bodyPr wrap="square">
              <a:spAutoFit/>
            </a:bodyPr>
            <a:lstStyle/>
            <a:p>
              <a:r>
                <a:rPr lang="es-ES" sz="4800" dirty="0">
                  <a:solidFill>
                    <a:srgbClr val="EDEDED"/>
                  </a:solidFill>
                  <a:latin typeface="Bahnschrift SemiLight SemiConde" panose="020B0502040204020203" pitchFamily="34" charset="0"/>
                </a:rPr>
                <a:t>        File.csv</a:t>
              </a:r>
              <a:endParaRPr lang="es-ES" sz="4800" dirty="0">
                <a:solidFill>
                  <a:srgbClr val="EDEDED"/>
                </a:solidFill>
              </a:endParaRPr>
            </a:p>
          </p:txBody>
        </p:sp>
        <p:sp>
          <p:nvSpPr>
            <p:cNvPr id="98" name="Elipse 97"/>
            <p:cNvSpPr/>
            <p:nvPr/>
          </p:nvSpPr>
          <p:spPr>
            <a:xfrm>
              <a:off x="17321118" y="30971134"/>
              <a:ext cx="720000" cy="72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9" name="Flecha abajo 98"/>
            <p:cNvSpPr/>
            <p:nvPr/>
          </p:nvSpPr>
          <p:spPr>
            <a:xfrm>
              <a:off x="17455856" y="31137342"/>
              <a:ext cx="450524" cy="433146"/>
            </a:xfrm>
            <a:prstGeom prst="downArrow">
              <a:avLst/>
            </a:prstGeom>
            <a:solidFill>
              <a:srgbClr val="82767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01" name="Llamada rectangular redondeada 100"/>
          <p:cNvSpPr/>
          <p:nvPr/>
        </p:nvSpPr>
        <p:spPr>
          <a:xfrm>
            <a:off x="17307084" y="42179441"/>
            <a:ext cx="4557640" cy="919401"/>
          </a:xfrm>
          <a:prstGeom prst="wedgeRoundRectCallout">
            <a:avLst>
              <a:gd name="adj1" fmla="val -46632"/>
              <a:gd name="adj2" fmla="val 93378"/>
              <a:gd name="adj3" fmla="val 16667"/>
            </a:avLst>
          </a:prstGeom>
          <a:solidFill>
            <a:srgbClr val="9B8F98"/>
          </a:solidFill>
          <a:ln w="76200">
            <a:noFill/>
          </a:ln>
        </p:spPr>
        <p:txBody>
          <a:bodyPr wrap="square">
            <a:spAutoFit/>
          </a:bodyPr>
          <a:lstStyle/>
          <a:p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Picture </a:t>
            </a:r>
            <a:r>
              <a:rPr lang="es-ES" sz="4800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saved</a:t>
            </a: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!</a:t>
            </a:r>
            <a:endParaRPr lang="es-ES" sz="4800" dirty="0">
              <a:solidFill>
                <a:srgbClr val="EDEDED"/>
              </a:solidFill>
            </a:endParaRPr>
          </a:p>
        </p:txBody>
      </p:sp>
      <p:pic>
        <p:nvPicPr>
          <p:cNvPr id="103" name="Imagen 102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3" t="14368" r="463" b="22901"/>
          <a:stretch/>
        </p:blipFill>
        <p:spPr>
          <a:xfrm>
            <a:off x="17307084" y="33552137"/>
            <a:ext cx="6156820" cy="6866309"/>
          </a:xfrm>
          <a:prstGeom prst="rect">
            <a:avLst/>
          </a:prstGeom>
        </p:spPr>
      </p:pic>
      <p:sp>
        <p:nvSpPr>
          <p:cNvPr id="104" name="Llamada rectangular redondeada 103"/>
          <p:cNvSpPr/>
          <p:nvPr/>
        </p:nvSpPr>
        <p:spPr>
          <a:xfrm rot="867179">
            <a:off x="8753072" y="17313648"/>
            <a:ext cx="2406979" cy="919401"/>
          </a:xfrm>
          <a:prstGeom prst="wedgeRoundRectCallout">
            <a:avLst>
              <a:gd name="adj1" fmla="val 48534"/>
              <a:gd name="adj2" fmla="val 81681"/>
              <a:gd name="adj3" fmla="val 16667"/>
            </a:avLst>
          </a:prstGeom>
          <a:solidFill>
            <a:srgbClr val="1D4C4B"/>
          </a:solidFill>
          <a:ln w="76200">
            <a:noFill/>
          </a:ln>
        </p:spPr>
        <p:txBody>
          <a:bodyPr wrap="square">
            <a:spAutoFit/>
          </a:bodyPr>
          <a:lstStyle/>
          <a:p>
            <a:r>
              <a:rPr lang="es-ES" sz="4800" b="1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/</a:t>
            </a:r>
            <a:r>
              <a:rPr lang="es-ES" sz="4800" b="1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legend</a:t>
            </a:r>
            <a:endParaRPr lang="es-ES" sz="4800" dirty="0">
              <a:solidFill>
                <a:srgbClr val="EDEDED"/>
              </a:solidFill>
            </a:endParaRPr>
          </a:p>
        </p:txBody>
      </p:sp>
      <p:sp>
        <p:nvSpPr>
          <p:cNvPr id="105" name="Llamada rectangular redondeada 104"/>
          <p:cNvSpPr/>
          <p:nvPr/>
        </p:nvSpPr>
        <p:spPr>
          <a:xfrm rot="867179">
            <a:off x="3764522" y="18375325"/>
            <a:ext cx="6701955" cy="3371136"/>
          </a:xfrm>
          <a:prstGeom prst="wedgeRoundRectCallout">
            <a:avLst>
              <a:gd name="adj1" fmla="val -42484"/>
              <a:gd name="adj2" fmla="val 63032"/>
              <a:gd name="adj3" fmla="val 16667"/>
            </a:avLst>
          </a:prstGeom>
          <a:solidFill>
            <a:srgbClr val="9B8F98"/>
          </a:solidFill>
          <a:ln w="76200">
            <a:noFill/>
          </a:ln>
        </p:spPr>
        <p:txBody>
          <a:bodyPr wrap="square">
            <a:spAutoFit/>
          </a:bodyPr>
          <a:lstStyle/>
          <a:p>
            <a:r>
              <a:rPr lang="es-ES" sz="4800" dirty="0" err="1">
                <a:solidFill>
                  <a:srgbClr val="EDEDED"/>
                </a:solidFill>
                <a:latin typeface="Bahnschrift SemiLight SemiConde" panose="020B0502040204020203" pitchFamily="34" charset="0"/>
              </a:rPr>
              <a:t>Legend</a:t>
            </a: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: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H: huevos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p: pollos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s-ES" sz="4800" dirty="0">
                <a:solidFill>
                  <a:srgbClr val="EDEDED"/>
                </a:solidFill>
                <a:latin typeface="Bahnschrift SemiLight SemiConde" panose="020B0502040204020203" pitchFamily="34" charset="0"/>
              </a:rPr>
              <a:t>pm: pollos muertos</a:t>
            </a:r>
            <a:endParaRPr lang="es-ES" sz="4800" dirty="0">
              <a:solidFill>
                <a:srgbClr val="EDEDED"/>
              </a:solidFill>
            </a:endParaRPr>
          </a:p>
        </p:txBody>
      </p:sp>
      <p:sp>
        <p:nvSpPr>
          <p:cNvPr id="51" name="Rectángulo 50"/>
          <p:cNvSpPr/>
          <p:nvPr/>
        </p:nvSpPr>
        <p:spPr>
          <a:xfrm>
            <a:off x="27293402" y="33643358"/>
            <a:ext cx="834924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" sz="4400" spc="-300" dirty="0"/>
              <a:t>•     Almacenar información sobre el </a:t>
            </a:r>
          </a:p>
        </p:txBody>
      </p:sp>
      <p:sp>
        <p:nvSpPr>
          <p:cNvPr id="52" name="Rectángulo 51"/>
          <p:cNvSpPr/>
          <p:nvPr/>
        </p:nvSpPr>
        <p:spPr>
          <a:xfrm>
            <a:off x="27209920" y="34306257"/>
            <a:ext cx="843272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" sz="4400" spc="-300" dirty="0"/>
              <a:t>estado o momento reproductivo de la </a:t>
            </a:r>
          </a:p>
        </p:txBody>
      </p:sp>
      <p:sp>
        <p:nvSpPr>
          <p:cNvPr id="53" name="Rectángulo 52"/>
          <p:cNvSpPr/>
          <p:nvPr/>
        </p:nvSpPr>
        <p:spPr>
          <a:xfrm>
            <a:off x="26436052" y="34969156"/>
            <a:ext cx="920659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" sz="4400" spc="-300" dirty="0"/>
              <a:t>caja nido, la tarea a realizar y el contenido </a:t>
            </a:r>
          </a:p>
        </p:txBody>
      </p:sp>
      <p:sp>
        <p:nvSpPr>
          <p:cNvPr id="54" name="Rectángulo 53"/>
          <p:cNvSpPr/>
          <p:nvPr/>
        </p:nvSpPr>
        <p:spPr>
          <a:xfrm>
            <a:off x="26367185" y="35632055"/>
            <a:ext cx="578198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" sz="4400" spc="-150" dirty="0"/>
              <a:t>de la caja tras revisarla.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25559121" y="36294954"/>
            <a:ext cx="1008352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" sz="4400" spc="-150" dirty="0">
                <a:solidFill>
                  <a:prstClr val="black"/>
                </a:solidFill>
              </a:rPr>
              <a:t>•  Consultar de manera simple y rápida los </a:t>
            </a:r>
            <a:endParaRPr lang="es-ES" sz="4400" spc="-150" dirty="0"/>
          </a:p>
        </p:txBody>
      </p:sp>
      <p:sp>
        <p:nvSpPr>
          <p:cNvPr id="56" name="Rectángulo 55"/>
          <p:cNvSpPr/>
          <p:nvPr/>
        </p:nvSpPr>
        <p:spPr>
          <a:xfrm>
            <a:off x="26338991" y="36957853"/>
            <a:ext cx="902229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" sz="4400" dirty="0">
                <a:solidFill>
                  <a:prstClr val="black"/>
                </a:solidFill>
              </a:rPr>
              <a:t>datos actualizados de cada caja nido.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5370675" y="37620752"/>
            <a:ext cx="1027196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" sz="4400" spc="-150" dirty="0">
                <a:solidFill>
                  <a:prstClr val="black"/>
                </a:solidFill>
              </a:rPr>
              <a:t>• Evitar duplicar trabajo al pasar a limpio los</a:t>
            </a:r>
            <a:endParaRPr lang="es-ES" sz="4400" spc="-150" dirty="0"/>
          </a:p>
        </p:txBody>
      </p:sp>
      <p:sp>
        <p:nvSpPr>
          <p:cNvPr id="61" name="Rectángulo 60"/>
          <p:cNvSpPr/>
          <p:nvPr/>
        </p:nvSpPr>
        <p:spPr>
          <a:xfrm>
            <a:off x="25343649" y="40272348"/>
            <a:ext cx="1029899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" sz="4400" spc="-300" dirty="0"/>
              <a:t>•     Saber cuál es la última caja revisada por </a:t>
            </a:r>
          </a:p>
        </p:txBody>
      </p:sp>
      <p:sp>
        <p:nvSpPr>
          <p:cNvPr id="62" name="Rectángulo 61"/>
          <p:cNvSpPr/>
          <p:nvPr/>
        </p:nvSpPr>
        <p:spPr>
          <a:xfrm>
            <a:off x="26899641" y="40935247"/>
            <a:ext cx="874300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" sz="4400" spc="-150" dirty="0"/>
              <a:t>cada usuario, lo cuál puede ser una </a:t>
            </a:r>
          </a:p>
        </p:txBody>
      </p:sp>
      <p:sp>
        <p:nvSpPr>
          <p:cNvPr id="63" name="Rectángulo 62"/>
          <p:cNvSpPr/>
          <p:nvPr/>
        </p:nvSpPr>
        <p:spPr>
          <a:xfrm>
            <a:off x="27115007" y="41598146"/>
            <a:ext cx="852763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" sz="4400" spc="-150" dirty="0"/>
              <a:t>herramienta de seguridad para los </a:t>
            </a:r>
          </a:p>
        </p:txBody>
      </p:sp>
      <p:sp>
        <p:nvSpPr>
          <p:cNvPr id="64" name="Rectángulo 63"/>
          <p:cNvSpPr/>
          <p:nvPr/>
        </p:nvSpPr>
        <p:spPr>
          <a:xfrm>
            <a:off x="27127191" y="42261045"/>
            <a:ext cx="851545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" sz="4400" spc="-300" dirty="0"/>
              <a:t>trabajadores, además de optimizar</a:t>
            </a:r>
          </a:p>
        </p:txBody>
      </p:sp>
      <p:sp>
        <p:nvSpPr>
          <p:cNvPr id="65" name="Rectángulo 64"/>
          <p:cNvSpPr/>
          <p:nvPr/>
        </p:nvSpPr>
        <p:spPr>
          <a:xfrm>
            <a:off x="28660594" y="42923948"/>
            <a:ext cx="501257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" sz="4400" spc="-300" dirty="0"/>
              <a:t>el trabajo en equipo.</a:t>
            </a:r>
          </a:p>
        </p:txBody>
      </p:sp>
      <p:sp>
        <p:nvSpPr>
          <p:cNvPr id="66" name="Elipse 26"/>
          <p:cNvSpPr/>
          <p:nvPr/>
        </p:nvSpPr>
        <p:spPr>
          <a:xfrm>
            <a:off x="28686183" y="32811636"/>
            <a:ext cx="7107127" cy="1569660"/>
          </a:xfrm>
          <a:custGeom>
            <a:avLst/>
            <a:gdLst>
              <a:gd name="connsiteX0" fmla="*/ 0 w 11094163"/>
              <a:gd name="connsiteY0" fmla="*/ 7833539 h 15667077"/>
              <a:gd name="connsiteX1" fmla="*/ 5547082 w 11094163"/>
              <a:gd name="connsiteY1" fmla="*/ 0 h 15667077"/>
              <a:gd name="connsiteX2" fmla="*/ 11094164 w 11094163"/>
              <a:gd name="connsiteY2" fmla="*/ 7833539 h 15667077"/>
              <a:gd name="connsiteX3" fmla="*/ 5547082 w 11094163"/>
              <a:gd name="connsiteY3" fmla="*/ 15667078 h 15667077"/>
              <a:gd name="connsiteX4" fmla="*/ 0 w 11094163"/>
              <a:gd name="connsiteY4" fmla="*/ 7833539 h 15667077"/>
              <a:gd name="connsiteX0" fmla="*/ 0 w 12221924"/>
              <a:gd name="connsiteY0" fmla="*/ 7681281 h 15667356"/>
              <a:gd name="connsiteX1" fmla="*/ 6674842 w 12221924"/>
              <a:gd name="connsiteY1" fmla="*/ 142 h 15667356"/>
              <a:gd name="connsiteX2" fmla="*/ 12221924 w 12221924"/>
              <a:gd name="connsiteY2" fmla="*/ 7833681 h 15667356"/>
              <a:gd name="connsiteX3" fmla="*/ 6674842 w 12221924"/>
              <a:gd name="connsiteY3" fmla="*/ 15667220 h 15667356"/>
              <a:gd name="connsiteX4" fmla="*/ 0 w 12221924"/>
              <a:gd name="connsiteY4" fmla="*/ 7681281 h 15667356"/>
              <a:gd name="connsiteX0" fmla="*/ 0 w 11338004"/>
              <a:gd name="connsiteY0" fmla="*/ 7590069 h 15667793"/>
              <a:gd name="connsiteX1" fmla="*/ 5790922 w 11338004"/>
              <a:gd name="connsiteY1" fmla="*/ 370 h 15667793"/>
              <a:gd name="connsiteX2" fmla="*/ 11338004 w 11338004"/>
              <a:gd name="connsiteY2" fmla="*/ 7833909 h 15667793"/>
              <a:gd name="connsiteX3" fmla="*/ 5790922 w 11338004"/>
              <a:gd name="connsiteY3" fmla="*/ 15667448 h 15667793"/>
              <a:gd name="connsiteX4" fmla="*/ 0 w 11338004"/>
              <a:gd name="connsiteY4" fmla="*/ 7590069 h 15667793"/>
              <a:gd name="connsiteX0" fmla="*/ 6167 w 11344171"/>
              <a:gd name="connsiteY0" fmla="*/ 7589909 h 10858236"/>
              <a:gd name="connsiteX1" fmla="*/ 5797089 w 11344171"/>
              <a:gd name="connsiteY1" fmla="*/ 210 h 10858236"/>
              <a:gd name="connsiteX2" fmla="*/ 11344171 w 11344171"/>
              <a:gd name="connsiteY2" fmla="*/ 7833749 h 10858236"/>
              <a:gd name="connsiteX3" fmla="*/ 4821729 w 11344171"/>
              <a:gd name="connsiteY3" fmla="*/ 10546648 h 10858236"/>
              <a:gd name="connsiteX4" fmla="*/ 6167 w 11344171"/>
              <a:gd name="connsiteY4" fmla="*/ 7589909 h 10858236"/>
              <a:gd name="connsiteX0" fmla="*/ 414 w 11338418"/>
              <a:gd name="connsiteY0" fmla="*/ 9632021 h 12900348"/>
              <a:gd name="connsiteX1" fmla="*/ 5059816 w 11338418"/>
              <a:gd name="connsiteY1" fmla="*/ 162 h 12900348"/>
              <a:gd name="connsiteX2" fmla="*/ 11338418 w 11338418"/>
              <a:gd name="connsiteY2" fmla="*/ 9875861 h 12900348"/>
              <a:gd name="connsiteX3" fmla="*/ 4815976 w 11338418"/>
              <a:gd name="connsiteY3" fmla="*/ 12588760 h 12900348"/>
              <a:gd name="connsiteX4" fmla="*/ 414 w 11338418"/>
              <a:gd name="connsiteY4" fmla="*/ 9632021 h 12900348"/>
              <a:gd name="connsiteX0" fmla="*/ 384 w 9936308"/>
              <a:gd name="connsiteY0" fmla="*/ 9634183 h 12601031"/>
              <a:gd name="connsiteX1" fmla="*/ 5059786 w 9936308"/>
              <a:gd name="connsiteY1" fmla="*/ 2324 h 12601031"/>
              <a:gd name="connsiteX2" fmla="*/ 9936308 w 9936308"/>
              <a:gd name="connsiteY2" fmla="*/ 8902663 h 12601031"/>
              <a:gd name="connsiteX3" fmla="*/ 4815946 w 9936308"/>
              <a:gd name="connsiteY3" fmla="*/ 12590922 h 12601031"/>
              <a:gd name="connsiteX4" fmla="*/ 384 w 9936308"/>
              <a:gd name="connsiteY4" fmla="*/ 9634183 h 12601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36308" h="12601031">
                <a:moveTo>
                  <a:pt x="384" y="9634183"/>
                </a:moveTo>
                <a:cubicBezTo>
                  <a:pt x="41024" y="7536083"/>
                  <a:pt x="3403799" y="124244"/>
                  <a:pt x="5059786" y="2324"/>
                </a:cubicBezTo>
                <a:cubicBezTo>
                  <a:pt x="6715773" y="-119596"/>
                  <a:pt x="9936308" y="4576319"/>
                  <a:pt x="9936308" y="8902663"/>
                </a:cubicBezTo>
                <a:cubicBezTo>
                  <a:pt x="9936308" y="13229007"/>
                  <a:pt x="6471933" y="12469002"/>
                  <a:pt x="4815946" y="12590922"/>
                </a:cubicBezTo>
                <a:cubicBezTo>
                  <a:pt x="3159959" y="12712842"/>
                  <a:pt x="-40256" y="11732283"/>
                  <a:pt x="384" y="9634183"/>
                </a:cubicBezTo>
                <a:close/>
              </a:path>
            </a:pathLst>
          </a:cu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5400" b="1" spc="-150" dirty="0"/>
              <a:t>BirdBot permite…</a:t>
            </a:r>
          </a:p>
          <a:p>
            <a:pPr algn="ctr"/>
            <a:endParaRPr lang="es-ES" sz="4800" spc="-15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5999738" cy="50390109"/>
          </a:xfrm>
          <a:prstGeom prst="rect">
            <a:avLst/>
          </a:prstGeom>
        </p:spPr>
      </p:pic>
      <p:sp>
        <p:nvSpPr>
          <p:cNvPr id="60" name="Rectángulo 59"/>
          <p:cNvSpPr/>
          <p:nvPr/>
        </p:nvSpPr>
        <p:spPr>
          <a:xfrm>
            <a:off x="27027233" y="39609449"/>
            <a:ext cx="388213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s-ES" sz="4400" spc="-150" dirty="0">
                <a:solidFill>
                  <a:prstClr val="black"/>
                </a:solidFill>
              </a:rPr>
              <a:t>de transcripción.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1E6C0A4-79BD-A378-B50B-05432C6E8652}"/>
              </a:ext>
            </a:extLst>
          </p:cNvPr>
          <p:cNvSpPr/>
          <p:nvPr/>
        </p:nvSpPr>
        <p:spPr>
          <a:xfrm>
            <a:off x="25833782" y="38278340"/>
            <a:ext cx="982058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" sz="4400" spc="-300" dirty="0">
                <a:solidFill>
                  <a:prstClr val="black"/>
                </a:solidFill>
              </a:rPr>
              <a:t>datos  procedentes  de  cuadernos  de  campo, </a:t>
            </a:r>
            <a:endParaRPr lang="es-ES" sz="4400" spc="-300" dirty="0"/>
          </a:p>
        </p:txBody>
      </p:sp>
      <p:sp>
        <p:nvSpPr>
          <p:cNvPr id="59" name="Rectángulo 58"/>
          <p:cNvSpPr/>
          <p:nvPr/>
        </p:nvSpPr>
        <p:spPr>
          <a:xfrm>
            <a:off x="25665973" y="38940139"/>
            <a:ext cx="997666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" sz="4400" spc="-300" dirty="0">
                <a:solidFill>
                  <a:prstClr val="black"/>
                </a:solidFill>
              </a:rPr>
              <a:t>ahorrando tiempo y minimizando los errores </a:t>
            </a:r>
            <a:endParaRPr lang="es-ES" sz="4400" spc="-300" dirty="0"/>
          </a:p>
        </p:txBody>
      </p:sp>
    </p:spTree>
    <p:extLst>
      <p:ext uri="{BB962C8B-B14F-4D97-AF65-F5344CB8AC3E}">
        <p14:creationId xmlns:p14="http://schemas.microsoft.com/office/powerpoint/2010/main" val="7282746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1919</TotalTime>
  <Words>342</Words>
  <Application>Microsoft Office PowerPoint</Application>
  <PresentationFormat>Personalizado</PresentationFormat>
  <Paragraphs>79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Bahnschrift SemiLight SemiConde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BirdBot: una herramienta para registrar datos de cajas nidos en campo basada en Telegram</dc:title>
  <dc:creator>Sonia</dc:creator>
  <cp:lastModifiedBy>Sonia Wandosell Carrasco</cp:lastModifiedBy>
  <cp:revision>83</cp:revision>
  <dcterms:created xsi:type="dcterms:W3CDTF">2024-12-05T09:48:15Z</dcterms:created>
  <dcterms:modified xsi:type="dcterms:W3CDTF">2026-06-10T15:24:00Z</dcterms:modified>
</cp:coreProperties>
</file>